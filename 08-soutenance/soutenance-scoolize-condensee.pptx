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6" r:id="rId28"/>
    <p:sldId id="277" r:id="rId29"/>
    <p:sldId id="278" r:id="rId30"/>
    <p:sldId id="279" r:id="rId31"/>
    <p:sldId id="273" r:id="rId25"/>
    <p:sldId id="280" r:id="rId32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22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(a lire quasiment mot pour mot) :</a:t>
            </a:r>
          </a:p>
          <a:p>
            <a:r>
              <a:t>Bonjour à toutes et à tous, merci de nous recevoir. Nous sommes l'équipe EPI'Gency Digital, et</a:t>
            </a:r>
          </a:p>
          <a:p>
            <a:r>
              <a:t>nous allons vous présenter Scoolize : deux outils, Prepare et Predict, pensés pour rendre l'orientation après</a:t>
            </a:r>
          </a:p>
          <a:p>
            <a:r>
              <a:t>le bac plus claire, aussi bien pour les établissements que pour les élèves. Aujourd'hui, nous vous montrons le</a:t>
            </a:r>
          </a:p>
          <a:p>
            <a:r>
              <a:t>résultat de nos trois premières semaines de travail : une recherche approfondie, une idée claire, et une</a:t>
            </a:r>
          </a:p>
          <a:p>
            <a:r>
              <a:t>maquette interactive complète que nous allons faire vivre devant vous.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(a lire quasiment mot pour mot) :</a:t>
            </a:r>
          </a:p>
          <a:p>
            <a:r>
              <a:t>Notre point de départ est simple. Parcoursup a permis de rassembler toutes les candidatures au même</a:t>
            </a:r>
          </a:p>
          <a:p>
            <a:r>
              <a:t>endroit, c'est une vraie réussite. Mais une fois sur la plateforme, les critères de sélection de chaque</a:t>
            </a:r>
          </a:p>
          <a:p>
            <a:r>
              <a:t>formation restent flous : chaque établissement les rédige à sa façon, avec plus ou moins de précision. Du</a:t>
            </a:r>
          </a:p>
          <a:p>
            <a:r>
              <a:t>coup, un élève choisit ses vœux un peu à l'aveugle, sans vraiment savoir s'il a ses chances avant de</a:t>
            </a:r>
          </a:p>
          <a:p>
            <a:r>
              <a:t>candidater. Et du côté des établissements, rédiger et organiser ces critères chaque année prend beaucoup</a:t>
            </a:r>
          </a:p>
          <a:p>
            <a:r>
              <a:t>de temps, sans réel outil pour les aider. Nous voulons être très clairs sur notre réponse à ce problème :</a:t>
            </a:r>
          </a:p>
          <a:p>
            <a:r>
              <a:t>Scoolize ne remplace pas Parcoursup, il vient en complément. L'idée centrale de notre projet, c'est de donner</a:t>
            </a:r>
          </a:p>
          <a:p>
            <a:r>
              <a:t>aux établissements et aux élèves un même langage clair pour parler des critères d'admission et des</a:t>
            </a:r>
          </a:p>
          <a:p>
            <a:r>
              <a:t>compétences attendues.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(a lire quasiment mot pour mot) :</a:t>
            </a:r>
          </a:p>
          <a:p>
            <a:r>
              <a:t>Trois personnes ont guidé toutes nos décisions. Léa, dix-sept ans, en terminale dans un lycée à</a:t>
            </a:r>
          </a:p>
          <a:p>
            <a:r>
              <a:t>la campagne : personne dans sa famille n'a fait d'études supérieures, elle manque de repères pour savoir si</a:t>
            </a:r>
          </a:p>
          <a:p>
            <a:r>
              <a:t>certaines formations sont faites pour elle. Yanis, dix-huit ans, en bac professionnel, qui vise une formation</a:t>
            </a:r>
          </a:p>
          <a:p>
            <a:r>
              <a:t>exigeante : il a de vraies compétences pratiques, mais craint d'être jugé uniquement sur ses notes. Et</a:t>
            </a:r>
          </a:p>
          <a:p>
            <a:r>
              <a:t>Camille, quarante-et-un ans, responsable des admissions dans un établissement : elle doit rédiger des</a:t>
            </a:r>
          </a:p>
          <a:p>
            <a:r>
              <a:t>critères clairs chaque année, avec peu de temps et sans outil adapté. Chaque écran que nous allons vous</a:t>
            </a:r>
          </a:p>
          <a:p>
            <a:r>
              <a:t>montrer aujourd'hui répond directement à l'un de ces trois besoins.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(a lire quasiment mot pour mot) :</a:t>
            </a:r>
          </a:p>
          <a:p>
            <a:r>
              <a:t>Concrètement, voici ce que fait chaque outil. Prepare permet à un établissement de créer</a:t>
            </a:r>
          </a:p>
          <a:p>
            <a:r>
              <a:t>facilement ses critères d'admission, de décider ensemble, en équipe, de l'importance de chacun, et de voir</a:t>
            </a:r>
          </a:p>
          <a:p>
            <a:r>
              <a:t>exactement ce qu'un élève verra avant de publier quoi que ce soit. Predict, de son côté, permet à un élève de</a:t>
            </a:r>
          </a:p>
          <a:p>
            <a:r>
              <a:t>voir en un coup d'œil si une formation lui correspond, de comprendre pourquoi — pas seulement si — et de</a:t>
            </a:r>
          </a:p>
          <a:p>
            <a:r>
              <a:t>comparer plusieurs formations facilement pour faire son choix.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(a lire quasiment mot pour mot) :</a:t>
            </a:r>
          </a:p>
          <a:p>
            <a:r>
              <a:t>Voici l'idée qui relie tout notre projet. Parcoursup reste la plateforme nationale, pour les vœux</a:t>
            </a:r>
          </a:p>
          <a:p>
            <a:r>
              <a:t>et le calendrier. En dessous, nos deux outils s'appuient sur un même socle commun de critères : notes,</a:t>
            </a:r>
          </a:p>
          <a:p>
            <a:r>
              <a:t>compétences, expériences. L'établissement définit ses critères d'un côté avec Prepare, l'élève les consulte de</a:t>
            </a:r>
          </a:p>
          <a:p>
            <a:r>
              <a:t>l'autre avec Predict — mais toujours avec le même vocabulaire, les mêmes catégories. Rien n'est traduit ou</a:t>
            </a:r>
          </a:p>
          <a:p>
            <a:r>
              <a:t>recopié différemment entre les deux : c'est exactement la même information, vue sous deux angles.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(a lire quasiment mot pour mot) :</a:t>
            </a:r>
          </a:p>
          <a:p>
            <a:r>
              <a:t>Un mot important avant de vous montrer l'outil. Ce que nous livrons aujourd'hui, c'est une recherche</a:t>
            </a:r>
          </a:p>
          <a:p>
            <a:r>
              <a:t>complète, une idée claire, et une maquette qui se manipule vraiment à l'écran, comme un vrai site — vous</a:t>
            </a:r>
          </a:p>
          <a:p>
            <a:r>
              <a:t>allez pouvoir la voir fonctionner en direct. Ce que nous n'avons pas encore fait, c'est connecter cet outil à un</a:t>
            </a:r>
          </a:p>
          <a:p>
            <a:r>
              <a:t>vrai système, avec de vrais comptes et de vraies données d'élèves. C'est un choix assumé : nous avons</a:t>
            </a:r>
          </a:p>
          <a:p>
            <a:r>
              <a:t>préféré passer notre temps à bien comprendre les besoins et à soigner l'expérience, plutôt que de nous</a:t>
            </a:r>
          </a:p>
          <a:p>
            <a:r>
              <a:t>précipiter sur la technique avant d'être sûrs de faire les bons choix.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(a lire quasiment mot pour mot) :</a:t>
            </a:r>
          </a:p>
          <a:p>
            <a:r>
              <a:t>Nous</a:t>
            </a:r>
          </a:p>
          <a:p>
            <a:r>
              <a:t>passons maintenant à la démonstration. Nous allons naviguer dans l'outil réel, pas seulement vous montrer</a:t>
            </a:r>
          </a:p>
          <a:p>
            <a:r>
              <a:t>des images, en suivant le parcours de Léa.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(a lire quasiment mot pour mot) :</a:t>
            </a:r>
          </a:p>
          <a:p>
            <a:r>
              <a:t>L'élève arrive sur un accueil simple et clair. Il peut importer directement son bulletin scolaire,</a:t>
            </a:r>
          </a:p>
          <a:p>
            <a:r>
              <a:t>sans avoir à ressaisir toutes ses notes à la main une par une. L'objectif est simple : lui faire gagner du</a:t>
            </a:r>
          </a:p>
          <a:p>
            <a:r>
              <a:t>temps et éviter les erreurs de saisie, dès la première étape.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(a lire quasiment mot pour mot) :</a:t>
            </a:r>
          </a:p>
          <a:p>
            <a:r>
              <a:t>Une fois le bulletin importé, l'élève voit son profil complet : ses notes bien sûr, mais aussi les</a:t>
            </a:r>
          </a:p>
          <a:p>
            <a:r>
              <a:t>compétences transmises par ses enseignants, et ses expériences pratiques, comme des projets ou des</a:t>
            </a:r>
          </a:p>
          <a:p>
            <a:r>
              <a:t>stages. C'est un point essentiel pour un profil comme celui de Yanis : ses compétences pratiques apparaissent</a:t>
            </a:r>
          </a:p>
          <a:p>
            <a:r>
              <a:t>au même niveau que ses notes, elles ne sont pas cachées en dessous d'une simple moyenne.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(a lire quasiment mot pour mot) :</a:t>
            </a:r>
          </a:p>
          <a:p>
            <a:r>
              <a:t>L'élève recherche ensuite les formations qui l'intéressent. Et là, la différence avec l'existant est</a:t>
            </a:r>
          </a:p>
          <a:p>
            <a:r>
              <a:t>immédiate : chaque résultat affiche directement un indicateur de compatibilité, avec un code couleur simple</a:t>
            </a:r>
          </a:p>
          <a:p>
            <a:r>
              <a:t>à comprendre. L'élève peut ainsi prioriser ses choix tout de suite, sans deviner à l'aveugle comme c'est</a:t>
            </a:r>
          </a:p>
          <a:p>
            <a:r>
              <a:t>souvent le cas aujourd'hui.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(a lire quasiment mot pour mot) :</a:t>
            </a:r>
          </a:p>
          <a:p>
            <a:r>
              <a:t>Voici l'écran le plus important de toute notre démonstration. L'élève clique sur une formation et</a:t>
            </a:r>
          </a:p>
          <a:p>
            <a:r>
              <a:t>découvre un score de correspondance détaillé. Mais ce score n'est jamais donné seul : chaque point gagné</a:t>
            </a:r>
          </a:p>
          <a:p>
            <a:r>
              <a:t>ou manquant est expliqué clairement, critère par critère, pour que l'élève comprenne exactement pourquoi.</a:t>
            </a:r>
          </a:p>
          <a:p>
            <a:r>
              <a:t>Et une mention rappelle toujours que ce score est une aide à la décision, jamais une garantie d'admission —</a:t>
            </a:r>
          </a:p>
          <a:p>
            <a:r>
              <a:t>c'est un principe auquel nous tenons énormément.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(a lire quasiment mot pour mot) :</a:t>
            </a:r>
          </a:p>
          <a:p>
            <a:r>
              <a:t>Enfin, l'élève peut sélectionner jusqu'à trois formations et les comparer directement, côte à côte.</a:t>
            </a:r>
          </a:p>
          <a:p>
            <a:r>
              <a:t>Les mêmes critères sont toujours utilisés pour chacune, ce qui garantit une comparaison honnête, pour l'aider</a:t>
            </a:r>
          </a:p>
          <a:p>
            <a:r>
              <a:t>à arbitrer entre plusieurs choix proches.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(a lire quasiment mot pour mot) :</a:t>
            </a:r>
          </a:p>
          <a:p>
            <a:r>
              <a:t>Nous changeons maintenant de côté : nous allons vous montrer comment Camille, responsable des</a:t>
            </a:r>
          </a:p>
          <a:p>
            <a:r>
              <a:t>admissions, construit et publie les critères de sa 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(a lire quasiment mot pour mot) :</a:t>
            </a:r>
          </a:p>
          <a:p>
            <a:r>
              <a:t>Camille arrive sur un tableau de bord qui lui donne une vue d'ensemble simple : où en est-elle dans</a:t>
            </a:r>
          </a:p>
          <a:p>
            <a:r>
              <a:t>la préparation de sa campagne ? Elle y retrouve aussi un rappel clair de ses obligations, écrit simplement,</a:t>
            </a:r>
          </a:p>
          <a:p>
            <a:r>
              <a:t>sans jargon juridique, pour qu'elle sache toujours ce qu'elle doit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(a lire quasiment mot pour mot) :</a:t>
            </a:r>
          </a:p>
          <a:p>
            <a:r>
              <a:t>Pour définir ses critères, Camille n'a pas besoin de partir d'une page blanche : un modèle est déjà</a:t>
            </a:r>
          </a:p>
          <a:p>
            <a:r>
              <a:t>proposé selon le type de sa formation. Elle ajuste ensuite, ajoute ou retire ce qui correspond vraiment à ses</a:t>
            </a:r>
          </a:p>
          <a:p>
            <a:r>
              <a:t>attentes. Un conseil simple la guide tout au long de cette étape : mieux vaut quelques critères bien choisis</a:t>
            </a:r>
          </a:p>
          <a:p>
            <a:r>
              <a:t>qu'une longue liste confuse pour les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(a lire quasiment mot pour mot) :</a:t>
            </a:r>
          </a:p>
          <a:p>
            <a:r>
              <a:t>Voici le moment que nous allons vous montrer en direct. Chaque critère retenu dispose d'un curseur,</a:t>
            </a:r>
          </a:p>
          <a:p>
            <a:r>
              <a:t>que Camille ajuste avec son équipe pour définir son importance. Un indicateur confirme en temps réel que</a:t>
            </a:r>
          </a:p>
          <a:p>
            <a:r>
              <a:t>l'ensemble est bien complet. Nous allons faire bouger un curseur devant vous, pour prouver que cet outil</a:t>
            </a:r>
          </a:p>
          <a:p>
            <a:r>
              <a:t>réagit vraiment, en direct, et n'est pas une simple image figée.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(a lire quasiment mot pour mot) :</a:t>
            </a:r>
          </a:p>
          <a:p>
            <a:r>
              <a:t>Avant de publier, Camille peut voir exactement l'écran que verra un élève. Elle se pose une question</a:t>
            </a:r>
          </a:p>
          <a:p>
            <a:r>
              <a:t>simple : si j'étais élève de terminale, est-ce que je comprendrais ce qu'on attend de moi ? Si la réponse est</a:t>
            </a:r>
          </a:p>
          <a:p>
            <a:r>
              <a:t>oui, elle publie ses critères en toute confiance, sachant précisément ce que les élèves vont découvrir.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(a lire quasiment mot pour mot) :</a:t>
            </a:r>
          </a:p>
          <a:p>
            <a:r>
              <a:t>Nous voulons insister sur un engagement fort. Les informations personnelles des élèves ne sont jamais</a:t>
            </a:r>
          </a:p>
          <a:p>
            <a:r>
              <a:t>utilisées à leur désavantage. Le score affiché n'est jamais la décision finale : la décision d'admission reste</a:t>
            </a:r>
          </a:p>
          <a:p>
            <a:r>
              <a:t>toujours prise par des personnes, jamais uniquement par un système automatique. Et chaque élève garde le</a:t>
            </a:r>
          </a:p>
          <a:p>
            <a:r>
              <a:t>contrôle sur ses propres données, à tout moment, avec la possibilité de les faire supprimer.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(a lire quasiment mot pour mot) :</a:t>
            </a:r>
          </a:p>
          <a:p>
            <a:r>
              <a:t>Nous préférons être honnêtes sur nos limites plutôt que de les cacher. Nous n'avons pas encore testé</a:t>
            </a:r>
          </a:p>
          <a:p>
            <a:r>
              <a:t>l'outil avec de vrais élèves ni de vrais établissements : c'est notre toute prochaine étape. Le calcul du score</a:t>
            </a:r>
          </a:p>
          <a:p>
            <a:r>
              <a:t>doit également encore être développé pour de vrai, au-delà de la maquette que nous vous montrons</a:t>
            </a:r>
          </a:p>
          <a:p>
            <a:r>
              <a:t>aujourd'hui. Nous avons fait un choix assumé : préférer une base solide et bien pensée, plutôt qu'un outil</a:t>
            </a:r>
          </a:p>
          <a:p>
            <a:r>
              <a:t>précipité et fragile.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ORAL (a lire quasiment mot pour mot) :</a:t>
            </a:r>
          </a:p>
          <a:p>
            <a:r>
              <a:t>Nous vous remercions pour votre attention. Scoolize aide chaque élève à comprendre ses chances,</a:t>
            </a:r>
          </a:p>
          <a:p>
            <a:r>
              <a:t>et chaque établissement à expliquer ses attentes. Nous restons à votre disposition pour vos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Pour la partie backend, on a fait des choix simples mais réfléchis.</a:t>
            </a:r>
          </a:p>
          <a:p/>
          <a:p>
            <a:r>
              <a:t>J'ai utilisé Node.js avec Express pour construire le serveur qui expose notre API. On a choisi Node parce que c'est le même langage que notre frontend — donc toute l'équipe travaille en JavaScript du début à la fin, ça évite de jongler entre plusieurs langages.</a:t>
            </a:r>
          </a:p>
          <a:p/>
          <a:p>
            <a:r>
              <a:t>Pour stocker les données, j'ai utilisé PostgreSQL, une vraie base de données relationnelle, avec Prisma comme ORM par-dessus. Prisma nous sert à décrire nos tables dans un seul fichier, à générer les migrations automatiquement, et à interroger la base sans écrire de SQL à la main — ce qui réduit les risques d'erreur.</a:t>
            </a:r>
          </a:p>
          <a:p/>
          <a:p>
            <a:r>
              <a:t>Pour l'authentification, j'ai utilisé JWT, un jeton signé, combiné à bcrypt pour le hachage des mots de passe. Concrètement : quand quelqu'un se connecte, on vérifie son mot de passe haché, puis on lui donne un jeton qu'il renvoie à chaque requête pour prouver qui il est — jamais son mot de passe en clair.</a:t>
            </a:r>
          </a:p>
          <a:p/>
          <a:p>
            <a:r>
              <a:t>Enfin, pour valider toutes les données qui arrivent — un email, un mot de passe, un numéro INE — j'ai utilisé Zod, qui nous permet de définir des règles claires et de renvoyer un message d'erreur précis si une donnée ne respecte pas le format attendu.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Côté frontend, j'ai gardé la même approche que pour le prototype déjà validé : du HTML, CSS et JavaScript natif, sans framework comme React ou Vue. On garde ce choix pour rester cohérent avec ce qui avait déjà été conçu, et parce que ça reste simple à comprendre et à faire évoluer pour un projet de cette taille.</a:t>
            </a:r>
          </a:p>
          <a:p/>
          <a:p>
            <a:r>
              <a:t>Pour les tests, j'ai utilisé Jest avec Supertest. Concrètement, ça nous permet d'envoyer de vraies requêtes HTTP à notre API et de vérifier les réponses, contre une vraie base de données de test — pas des simulations. On a 113 tests automatisés qui couvrent l'inscription, la connexion, les écoles, les formations, les statistiques, les vœux et l'administration.</a:t>
            </a:r>
          </a:p>
          <a:p/>
          <a:p>
            <a:r>
              <a:t>Pour documenter l'API, j'ai utilisé Swagger, qui génère une interface interactive à partir de commentaires écrits directement dans le code des routes — n'importe qui peut aller sur l'adresse /api/docs et tester chaque route en direct, sans rien installer.</a:t>
            </a:r>
          </a:p>
          <a:p/>
          <a:p>
            <a:r>
              <a:t>Et pour que tout le monde puisse lancer le projet facilement, j'ai utilisé Docker Compose, qui démarre en une seule commande la base de données, l'API et le frontend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schéma résume comment les trois grandes parties du projet communiquent entre elles.</a:t>
            </a:r>
          </a:p>
          <a:p/>
          <a:p>
            <a:r>
              <a:t>Le navigateur, en haut, c'est notre frontend — des pages HTML classiques. Quand un utilisateur clique quelque part, le frontend envoie une requête à l'API REST, en y ajoutant son jeton de connexion dans l'en-tête.</a:t>
            </a:r>
          </a:p>
          <a:p/>
          <a:p>
            <a:r>
              <a:t>L'API valide les données reçues avec Zod, applique les règles métier — par exemple vérifier qu'un utilisateur a bien le droit de faire cette action — puis va lire ou écrire dans la base de données PostgreSQL, en passant par Prisma.</a:t>
            </a:r>
          </a:p>
          <a:p/>
          <a:p>
            <a:r>
              <a:t>Le point important : le frontend n'a jamais d'accès direct à la base de données. Il passe toujours par l'API, ce qui nous permet de contrôler et de sécuriser chaque accès aux données à un seul endroit.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Pour organiser le code de l'API, j'ai structuré chaque fonctionnalité en modules indépendants : un module pour les écoles, un pour les formations, un pour les statistiques, un pour les vœux, un pour l'administration. Chaque module a ses propres routes, son contrôleur, son service qui contient la vraie logique métier, et son schéma de validation.</a:t>
            </a:r>
          </a:p>
          <a:p/>
          <a:p>
            <a:r>
              <a:t>Niveau base de données, les tables sont reliées entre elles : une école a plusieurs formations, une formation a plusieurs années de statistiques, et un étudiant peut faire plusieurs vœux, chacun ciblant une formation précise.</a:t>
            </a:r>
          </a:p>
          <a:p/>
          <a:p>
            <a:r>
              <a:t>J'ai mis en place trois rôles réels : étudiant, personnel d'établissement, et administrateur. Et ce n'est pas juste une étiquette sur le compte — c'est vérifié à chaque requête, coté serveur. Par exemple, si Camille, qui gère l'IUT de Bordeaux, essaie de modifier une formation d'une autre école, le serveur lui refuse explicitement l'accès.</a:t>
            </a:r>
          </a:p>
          <a:p/>
          <a:p>
            <a:r>
              <a:t>Enfin, pour la gestion des erreurs, j'ai centralisé tout ça dans un seul middleware qui transforme n'importe quelle erreur — un champ invalide, un email déjà utilisé, une ressource introuvable — en un message clair et compréhensible, affiché directement dans le formulaire concerné.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CE6F7"/>
                </a:solidFill>
                <a:latin typeface="Source Sans 3"/>
              </a:rPr>
              <a:t>MINISTÈRE DE L'ÉDUCATION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 i="0">
                <a:solidFill>
                  <a:srgbClr val="FFFFFF"/>
                </a:solidFill>
                <a:latin typeface="Lexend"/>
              </a:rPr>
              <a:t>Scoolize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D8F2EE"/>
                </a:solidFill>
                <a:latin typeface="Source Sans 3"/>
              </a:rPr>
              <a:t>Prepare &amp; Predict — rendre l'orientation après le bac</a:t>
            </a:r>
          </a:p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D8F2EE"/>
                </a:solidFill>
                <a:latin typeface="Source Sans 3"/>
              </a:rPr>
              <a:t>plus claire, pour tout le monde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343400"/>
            <a:ext cx="2377440" cy="25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Source Sans 3"/>
              </a:rPr>
              <a:t>Soutenance de projet — 11 décembre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37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DCE6F7"/>
                </a:solidFill>
                <a:latin typeface="Source Sans 3"/>
              </a:rPr>
              <a:t>EPI'Gency Digital</a:t>
            </a:r>
          </a:p>
        </p:txBody>
      </p:sp>
      <p:sp>
        <p:nvSpPr>
          <p:cNvPr id="11" name="Oval 10"/>
          <p:cNvSpPr/>
          <p:nvPr/>
        </p:nvSpPr>
        <p:spPr>
          <a:xfrm>
            <a:off x="10675620" y="662940"/>
            <a:ext cx="777240" cy="7772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0F3D91"/>
                </a:solidFill>
                <a:latin typeface="Source Sans 3"/>
              </a:rPr>
              <a:t>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510528"/>
            <a:ext cx="10908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Scoolize — Prepare &amp; Predict  ·  EPI'Gency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65392"/>
            <a:ext cx="28620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E2E8F0"/>
                </a:solidFill>
                <a:latin typeface="Source Sans 3"/>
              </a:rPr>
              <a:t>PAGE DE GARDE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3D91"/>
                </a:solidFill>
                <a:latin typeface="Source Sans 3"/>
              </a:rPr>
              <a:t>LE POINT DE DÉPART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172A"/>
                </a:solidFill>
                <a:latin typeface="Lexend"/>
              </a:rPr>
              <a:t>Un problème simple, une position claire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F3D91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Le problème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sur Parcoursup, les critères de sélection de chaque formation restent flous, écrits différemment d'un établissement à l'autre.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F3D91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Résultat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un élève choisit ses vœux un peu à l'aveugle, et les établissements passent beaucoup de temps à rédiger ces critères sans outil pour les organiser.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F3D91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Notre réponse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Scoolize s'ajoute à Parcoursup, il ne cherche pas à le remplacer.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F3D91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L'idée centrale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donner à chaque établissement et à chaque élève le même langage clair pour parler de compétences et de critères.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908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Scoolize — Prepare &amp; Predict  ·  EPI'Gency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65392"/>
            <a:ext cx="28620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F3D91"/>
                </a:solidFill>
                <a:latin typeface="Source Sans 3"/>
              </a:rPr>
              <a:t>PRÉSENTATION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D9488"/>
                </a:solidFill>
                <a:latin typeface="Source Sans 3"/>
              </a:rPr>
              <a:t>POUR QUI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172A"/>
                </a:solidFill>
                <a:latin typeface="Lexend"/>
              </a:rPr>
              <a:t>Trois personnes qui ont guidé toutes nos décisions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456432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3456432" cy="82296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3456432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Lexend"/>
              </a:rPr>
              <a:t>Léa, 17 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299923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334155"/>
                </a:solidFill>
                <a:latin typeface="Source Sans 3"/>
              </a:rPr>
              <a:t>En terminale, dans un lycée à la campagne. Personne dans sa famille n'a fait d'études supérieures : elle manque de repères pour savoir si certaines formations sont faites pour elle.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691640"/>
            <a:ext cx="3456432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52544" y="1691640"/>
            <a:ext cx="3456432" cy="82296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2544" y="2148840"/>
            <a:ext cx="3456432" cy="365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1901952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Lexend"/>
              </a:rPr>
              <a:t>Yanis, 18 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697480"/>
            <a:ext cx="299923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334155"/>
                </a:solidFill>
                <a:latin typeface="Source Sans 3"/>
              </a:rPr>
              <a:t>En bac professionnel, il vise une formation exigeante. Il a de vraies compétences pratiques, mais craint d'être jugé uniquement sur ses notes.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691640"/>
            <a:ext cx="3456432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65008" y="1691640"/>
            <a:ext cx="3456432" cy="822960"/>
          </a:xfrm>
          <a:prstGeom prst="roundRect">
            <a:avLst>
              <a:gd name="adj" fmla="val 5000"/>
            </a:avLst>
          </a:prstGeom>
          <a:solidFill>
            <a:srgbClr val="0F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5008" y="2148840"/>
            <a:ext cx="3456432" cy="365760"/>
          </a:xfrm>
          <a:prstGeom prst="rect">
            <a:avLst/>
          </a:prstGeom>
          <a:solidFill>
            <a:srgbClr val="0F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1901952"/>
            <a:ext cx="29992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Lexend"/>
              </a:rPr>
              <a:t>Camille, 41 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697480"/>
            <a:ext cx="299923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334155"/>
                </a:solidFill>
                <a:latin typeface="Source Sans 3"/>
              </a:rPr>
              <a:t>Responsable des admissions dans un établissement. Elle doit rédiger des critères clairs chaque année, avec peu de temps et sans outil adapté.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510528"/>
            <a:ext cx="10908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Scoolize — Prepare &amp; Predict  ·  EPI'Gency Digital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565392"/>
            <a:ext cx="28620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D9488"/>
                </a:solidFill>
                <a:latin typeface="Source Sans 3"/>
              </a:rPr>
              <a:t>PRÉSENTATION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369A1"/>
                </a:solidFill>
                <a:latin typeface="Source Sans 3"/>
              </a:rPr>
              <a:t>LA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172A"/>
                </a:solidFill>
                <a:latin typeface="Lexend"/>
              </a:rPr>
              <a:t>Deux outils, un seul objectif : la clarté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257800" cy="594360"/>
          </a:xfrm>
          <a:prstGeom prst="roundRect">
            <a:avLst>
              <a:gd name="adj" fmla="val 15000"/>
            </a:avLst>
          </a:prstGeom>
          <a:solidFill>
            <a:srgbClr val="0F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Source Sans 3"/>
              </a:rPr>
              <a:t>PREPARE — pour les établissements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5257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600" b="1">
                <a:solidFill>
                  <a:srgbClr val="0F3D91"/>
                </a:solidFill>
                <a:latin typeface="Source Sans 3"/>
              </a:rPr>
              <a:t>▸  </a:t>
            </a:r>
            <a:r>
              <a:rPr sz="1600">
                <a:solidFill>
                  <a:srgbClr val="334155"/>
                </a:solidFill>
                <a:latin typeface="Source Sans 3"/>
              </a:rPr>
              <a:t>Créer facilement ses critères d'admission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600" b="1">
                <a:solidFill>
                  <a:srgbClr val="0F3D91"/>
                </a:solidFill>
                <a:latin typeface="Source Sans 3"/>
              </a:rPr>
              <a:t>▸  </a:t>
            </a:r>
            <a:r>
              <a:rPr sz="1600">
                <a:solidFill>
                  <a:srgbClr val="334155"/>
                </a:solidFill>
                <a:latin typeface="Source Sans 3"/>
              </a:rPr>
              <a:t>Décider ensemble de leur importance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600" b="1">
                <a:solidFill>
                  <a:srgbClr val="0F3D91"/>
                </a:solidFill>
                <a:latin typeface="Source Sans 3"/>
              </a:rPr>
              <a:t>▸  </a:t>
            </a:r>
            <a:r>
              <a:rPr sz="1600">
                <a:solidFill>
                  <a:srgbClr val="334155"/>
                </a:solidFill>
                <a:latin typeface="Source Sans 3"/>
              </a:rPr>
              <a:t>Voir exactement ce que verra un élève avant de publier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37360"/>
            <a:ext cx="5257800" cy="59436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874519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Source Sans 3"/>
              </a:rPr>
              <a:t>PREDICT — pour les élèves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514600"/>
            <a:ext cx="5257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600" b="1">
                <a:solidFill>
                  <a:srgbClr val="0D9488"/>
                </a:solidFill>
                <a:latin typeface="Source Sans 3"/>
              </a:rPr>
              <a:t>▸  </a:t>
            </a:r>
            <a:r>
              <a:rPr sz="1600">
                <a:solidFill>
                  <a:srgbClr val="334155"/>
                </a:solidFill>
                <a:latin typeface="Source Sans 3"/>
              </a:rPr>
              <a:t>Voir en un coup d'œil si une formation lui correspond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600" b="1">
                <a:solidFill>
                  <a:srgbClr val="0D9488"/>
                </a:solidFill>
                <a:latin typeface="Source Sans 3"/>
              </a:rPr>
              <a:t>▸  </a:t>
            </a:r>
            <a:r>
              <a:rPr sz="1600">
                <a:solidFill>
                  <a:srgbClr val="334155"/>
                </a:solidFill>
                <a:latin typeface="Source Sans 3"/>
              </a:rPr>
              <a:t>Comprendre pourquoi, pas juste si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600" b="1">
                <a:solidFill>
                  <a:srgbClr val="0D9488"/>
                </a:solidFill>
                <a:latin typeface="Source Sans 3"/>
              </a:rPr>
              <a:t>▸  </a:t>
            </a:r>
            <a:r>
              <a:rPr sz="1600">
                <a:solidFill>
                  <a:srgbClr val="334155"/>
                </a:solidFill>
                <a:latin typeface="Source Sans 3"/>
              </a:rPr>
              <a:t>Comparer plusieurs formations facilement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510528"/>
            <a:ext cx="10908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Scoolize — Prepare &amp; Predict  ·  EPI'Gency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65392"/>
            <a:ext cx="28620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369A1"/>
                </a:solidFill>
                <a:latin typeface="Source Sans 3"/>
              </a:rPr>
              <a:t>PRÉSENTATION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369A1"/>
                </a:solidFill>
                <a:latin typeface="Source Sans 3"/>
              </a:rPr>
              <a:t>LE CŒUR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172A"/>
                </a:solidFill>
                <a:latin typeface="Lexend"/>
              </a:rPr>
              <a:t>Un même socle de critères, partagé par les deux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34155"/>
                </a:solidFill>
                <a:latin typeface="Source Sans 3"/>
              </a:rPr>
              <a:t>PARCOURSUP — la plateforme nationale (vœux, calendrier)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3200400"/>
            <a:ext cx="2377440" cy="640080"/>
          </a:xfrm>
          <a:prstGeom prst="roundRect">
            <a:avLst>
              <a:gd name="adj" fmla="val 15000"/>
            </a:avLst>
          </a:prstGeom>
          <a:solidFill>
            <a:srgbClr val="0F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335584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Source Sans 3"/>
              </a:rPr>
              <a:t>PREPARE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3200400"/>
            <a:ext cx="2377440" cy="64008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335584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Source Sans 3"/>
              </a:rPr>
              <a:t>PREDICT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4343400"/>
            <a:ext cx="5669280" cy="777240"/>
          </a:xfrm>
          <a:prstGeom prst="roundRect">
            <a:avLst>
              <a:gd name="adj" fmla="val 12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4480560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FFFFFF"/>
                </a:solidFill>
                <a:latin typeface="Source Sans 3"/>
              </a:rPr>
              <a:t>UN MÊME SOCLE DE CRITÈRES</a:t>
            </a:r>
          </a:p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FFFFFF"/>
                </a:solidFill>
                <a:latin typeface="Source Sans 3"/>
              </a:rPr>
              <a:t>(notes, compétences, expériences)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864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 i="1">
                <a:solidFill>
                  <a:srgbClr val="64748B"/>
                </a:solidFill>
                <a:latin typeface="Source Sans 3"/>
              </a:rPr>
              <a:t>L'établissement définit ses critères d'un côté, l'élève les consulte de l'autre — toujours avec le même vocabulaire, les mêmes catégories.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510528"/>
            <a:ext cx="10908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Scoolize — Prepare &amp; Predict  ·  EPI'Gency Digital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565392"/>
            <a:ext cx="28620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369A1"/>
                </a:solidFill>
                <a:latin typeface="Source Sans 3"/>
              </a:rPr>
              <a:t>PRÉSENTATION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3D91"/>
                </a:solidFill>
                <a:latin typeface="Source Sans 3"/>
              </a:rPr>
              <a:t>OÙ EN SOMMES-NOUS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172A"/>
                </a:solidFill>
                <a:latin typeface="Lexend"/>
              </a:rPr>
              <a:t>Une application réelle, de la recherche UX au code qui tourne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F3D91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Ce que nous livrons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une recherche UX complète, un prototype interactif soigné, et une application réelle : API REST, base de données PostgreSQL, authentification à trois rôles, 113 tests automatisés.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F3D91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Ce qui fonctionne aujourd'hui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comptes, recherche de formations, vœux, statistiques et écran d'administration reposent tous sur de vraies données, pas des exemples figés.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F3D91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La suite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connecter le référentiel de compétences déjà conçu à un algorithme de score réel, pour aller au bout de la promesse Predict.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908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Scoolize — Prepare &amp; Predict  ·  EPI'Gency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65392"/>
            <a:ext cx="28620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F3D91"/>
                </a:solidFill>
                <a:latin typeface="Source Sans 3"/>
              </a:rPr>
              <a:t>PRÉSENTATION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880360"/>
            <a:ext cx="1005840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Lexend"/>
              </a:rPr>
              <a:t>Du côté des élèves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FFFFFF"/>
                </a:solidFill>
                <a:latin typeface="Source Sans 3"/>
              </a:rPr>
              <a:t>Nous allons maintenant vous montrer Predict en direct, à travers le parcours de Léa.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908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Scoolize — Prepare &amp; Predict  ·  EPI'Gency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65392"/>
            <a:ext cx="28620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E2E8F0"/>
                </a:solidFill>
                <a:latin typeface="Source Sans 3"/>
              </a:rPr>
              <a:t>DÉMONSTRATION — PREDICT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D9488"/>
                </a:solidFill>
                <a:latin typeface="Source Sans 3"/>
              </a:rPr>
              <a:t>ÉTAPE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172A"/>
                </a:solidFill>
                <a:latin typeface="Lexend"/>
              </a:rPr>
              <a:t>L'accueil : importer son bulletin en un clic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7607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D9488"/>
                </a:solidFill>
                <a:latin typeface="Source Sans 3"/>
              </a:rPr>
              <a:t>▸  </a:t>
            </a:r>
            <a:r>
              <a:rPr sz="1800">
                <a:solidFill>
                  <a:srgbClr val="334155"/>
                </a:solidFill>
                <a:latin typeface="Source Sans 3"/>
              </a:rPr>
              <a:t>L'élève arrive sur un accueil simple et clair.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D9488"/>
                </a:solidFill>
                <a:latin typeface="Source Sans 3"/>
              </a:rPr>
              <a:t>▸  </a:t>
            </a:r>
            <a:r>
              <a:rPr sz="1800">
                <a:solidFill>
                  <a:srgbClr val="334155"/>
                </a:solidFill>
                <a:latin typeface="Source Sans 3"/>
              </a:rPr>
              <a:t>Il importe directement son bulletin scolaire, sans avoir à ressaisir toutes ses notes à la main.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D9488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Objectif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gagner du temps et éviter les erreurs de saisie.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1560" y="1646640"/>
            <a:ext cx="4890600" cy="3503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edict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91640"/>
            <a:ext cx="4800600" cy="3413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66560" y="1691640"/>
            <a:ext cx="4800600" cy="3413760"/>
          </a:xfrm>
          <a:prstGeom prst="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1560" y="1646640"/>
            <a:ext cx="90000" cy="3503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518160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4748B"/>
                </a:solidFill>
                <a:latin typeface="Source Sans 3"/>
              </a:rPr>
              <a:t>L'écran d'accueil de Predict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510528"/>
            <a:ext cx="10908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Scoolize — Prepare &amp; Predict  ·  EPI'Gency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65392"/>
            <a:ext cx="28620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D9488"/>
                </a:solidFill>
                <a:latin typeface="Source Sans 3"/>
              </a:rPr>
              <a:t>DÉMONSTRATION — PREDICT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D9488"/>
                </a:solidFill>
                <a:latin typeface="Source Sans 3"/>
              </a:rPr>
              <a:t>ÉTAPE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172A"/>
                </a:solidFill>
                <a:latin typeface="Lexend"/>
              </a:rPr>
              <a:t>Le profil : tout ce que l'élève sait faire, en un seul endroit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7607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D9488"/>
                </a:solidFill>
                <a:latin typeface="Source Sans 3"/>
              </a:rPr>
              <a:t>▸  </a:t>
            </a:r>
            <a:r>
              <a:rPr sz="1800">
                <a:solidFill>
                  <a:srgbClr val="334155"/>
                </a:solidFill>
                <a:latin typeface="Source Sans 3"/>
              </a:rPr>
              <a:t>Les notes, mais aussi les compétences transmises par les enseignants, et les expériences pratiques (projets, stages).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D9488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Pour Yanis, c'est essentiel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ses compétences pratiques apparaissent au même niveau que ses notes, pas cachées en dessous.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1560" y="1646640"/>
            <a:ext cx="4890600" cy="3503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edict-prof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91640"/>
            <a:ext cx="4800600" cy="3413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66560" y="1691640"/>
            <a:ext cx="4800600" cy="3413760"/>
          </a:xfrm>
          <a:prstGeom prst="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1560" y="1646640"/>
            <a:ext cx="90000" cy="3503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518160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4748B"/>
                </a:solidFill>
                <a:latin typeface="Source Sans 3"/>
              </a:rPr>
              <a:t>Le profil consolidé de l'élève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510528"/>
            <a:ext cx="10908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Scoolize — Prepare &amp; Predict  ·  EPI'Gency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65392"/>
            <a:ext cx="28620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D9488"/>
                </a:solidFill>
                <a:latin typeface="Source Sans 3"/>
              </a:rPr>
              <a:t>DÉMONSTRATION — PREDICT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D9488"/>
                </a:solidFill>
                <a:latin typeface="Source Sans 3"/>
              </a:rPr>
              <a:t>ÉTAPE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172A"/>
                </a:solidFill>
                <a:latin typeface="Lexend"/>
              </a:rPr>
              <a:t>La recherche : des résultats déjà classés selon ses chances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7607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D9488"/>
                </a:solidFill>
                <a:latin typeface="Source Sans 3"/>
              </a:rPr>
              <a:t>▸  </a:t>
            </a:r>
            <a:r>
              <a:rPr sz="1800">
                <a:solidFill>
                  <a:srgbClr val="334155"/>
                </a:solidFill>
                <a:latin typeface="Source Sans 3"/>
              </a:rPr>
              <a:t>L'élève recherche des formations qui l'intéressent.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D9488"/>
                </a:solidFill>
                <a:latin typeface="Source Sans 3"/>
              </a:rPr>
              <a:t>▸  </a:t>
            </a:r>
            <a:r>
              <a:rPr sz="1800">
                <a:solidFill>
                  <a:srgbClr val="334155"/>
                </a:solidFill>
                <a:latin typeface="Source Sans 3"/>
              </a:rPr>
              <a:t>Chaque résultat affiche directement un indicateur de compatibilité, avec un code couleur simple.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D9488"/>
                </a:solidFill>
                <a:latin typeface="Source Sans 3"/>
              </a:rPr>
              <a:t>▸  </a:t>
            </a:r>
            <a:r>
              <a:rPr sz="1800">
                <a:solidFill>
                  <a:srgbClr val="334155"/>
                </a:solidFill>
                <a:latin typeface="Source Sans 3"/>
              </a:rPr>
              <a:t>Il peut ainsi prioriser ses choix, sans deviner à l'aveugle.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1560" y="1646640"/>
            <a:ext cx="4890600" cy="3503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edict-recher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91640"/>
            <a:ext cx="4800600" cy="3413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66560" y="1691640"/>
            <a:ext cx="4800600" cy="3413760"/>
          </a:xfrm>
          <a:prstGeom prst="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1560" y="1646640"/>
            <a:ext cx="90000" cy="3503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518160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4748B"/>
                </a:solidFill>
                <a:latin typeface="Source Sans 3"/>
              </a:rPr>
              <a:t>La recherche de formations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510528"/>
            <a:ext cx="10908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Scoolize — Prepare &amp; Predict  ·  EPI'Gency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65392"/>
            <a:ext cx="28620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D9488"/>
                </a:solidFill>
                <a:latin typeface="Source Sans 3"/>
              </a:rPr>
              <a:t>DÉMONSTRATION — PREDICT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D9488"/>
                </a:solidFill>
                <a:latin typeface="Source Sans 3"/>
              </a:rPr>
              <a:t>ÉTAPE 4 — L'ÉCRAN LE PLUS IMPORTANT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172A"/>
                </a:solidFill>
                <a:latin typeface="Lexend"/>
              </a:rPr>
              <a:t>La fiche formation : jamais un simple verdict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7607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D9488"/>
                </a:solidFill>
                <a:latin typeface="Source Sans 3"/>
              </a:rPr>
              <a:t>▸  </a:t>
            </a:r>
            <a:r>
              <a:rPr sz="1800">
                <a:solidFill>
                  <a:srgbClr val="334155"/>
                </a:solidFill>
                <a:latin typeface="Source Sans 3"/>
              </a:rPr>
              <a:t>L'élève clique sur une formation et découvre un score de correspondance détaillé.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D9488"/>
                </a:solidFill>
                <a:latin typeface="Source Sans 3"/>
              </a:rPr>
              <a:t>▸  </a:t>
            </a:r>
            <a:r>
              <a:rPr sz="1800">
                <a:solidFill>
                  <a:srgbClr val="334155"/>
                </a:solidFill>
                <a:latin typeface="Source Sans 3"/>
              </a:rPr>
              <a:t>Chaque point gagné ou manquant est expliqué clairement, critère par critère.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D9488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Une mention rappelle toujours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ce score est une aide à la décision, pas une garantie d'admission.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1560" y="1646640"/>
            <a:ext cx="4890600" cy="3503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edict-fi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91640"/>
            <a:ext cx="4800600" cy="3413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66560" y="1691640"/>
            <a:ext cx="4800600" cy="3413760"/>
          </a:xfrm>
          <a:prstGeom prst="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1560" y="1646640"/>
            <a:ext cx="90000" cy="3503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518160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4748B"/>
                </a:solidFill>
                <a:latin typeface="Source Sans 3"/>
              </a:rPr>
              <a:t>La fiche formation avec son score expliqué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510528"/>
            <a:ext cx="10908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Scoolize — Prepare &amp; Predict  ·  EPI'Gency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65392"/>
            <a:ext cx="28620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D9488"/>
                </a:solidFill>
                <a:latin typeface="Source Sans 3"/>
              </a:rPr>
              <a:t>DÉMONSTRATION — PREDICT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D9488"/>
                </a:solidFill>
                <a:latin typeface="Source Sans 3"/>
              </a:rPr>
              <a:t>ÉTAPE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172A"/>
                </a:solidFill>
                <a:latin typeface="Lexend"/>
              </a:rPr>
              <a:t>Le comparateur : mettre plusieurs choix côte à côte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7607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D9488"/>
                </a:solidFill>
                <a:latin typeface="Source Sans 3"/>
              </a:rPr>
              <a:t>▸  </a:t>
            </a:r>
            <a:r>
              <a:rPr sz="1800">
                <a:solidFill>
                  <a:srgbClr val="334155"/>
                </a:solidFill>
                <a:latin typeface="Source Sans 3"/>
              </a:rPr>
              <a:t>L'élève peut sélectionner jusqu'à trois formations et les comparer directement.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D9488"/>
                </a:solidFill>
                <a:latin typeface="Source Sans 3"/>
              </a:rPr>
              <a:t>▸  </a:t>
            </a:r>
            <a:r>
              <a:rPr sz="1800">
                <a:solidFill>
                  <a:srgbClr val="334155"/>
                </a:solidFill>
                <a:latin typeface="Source Sans 3"/>
              </a:rPr>
              <a:t>Les mêmes critères sont utilisés pour chacune, pour une comparaison honnête.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1560" y="1646640"/>
            <a:ext cx="4890600" cy="3503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edict-comparate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91640"/>
            <a:ext cx="4800600" cy="3413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66560" y="1691640"/>
            <a:ext cx="4800600" cy="3413760"/>
          </a:xfrm>
          <a:prstGeom prst="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1560" y="1646640"/>
            <a:ext cx="90000" cy="35037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518160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4748B"/>
                </a:solidFill>
                <a:latin typeface="Source Sans 3"/>
              </a:rPr>
              <a:t>Le comparateur de formations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510528"/>
            <a:ext cx="10908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Scoolize — Prepare &amp; Predict  ·  EPI'Gency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65392"/>
            <a:ext cx="28620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D9488"/>
                </a:solidFill>
                <a:latin typeface="Source Sans 3"/>
              </a:rPr>
              <a:t>DÉMONSTRATION — PREDICT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880360"/>
            <a:ext cx="1005840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Lexend"/>
              </a:rPr>
              <a:t>Du côté des établissements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519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FFFFFF"/>
                </a:solidFill>
                <a:latin typeface="Source Sans 3"/>
              </a:rPr>
              <a:t>Nous basculons maintenant du côté de Camille, pour montrer comment un établissement construit et publie ses critères.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908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Scoolize — Prepare &amp; Predict  ·  EPI'Gency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65392"/>
            <a:ext cx="28620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E2E8F0"/>
                </a:solidFill>
                <a:latin typeface="Source Sans 3"/>
              </a:rPr>
              <a:t>DÉMONSTRATION — PREPARE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3D91"/>
                </a:solidFill>
                <a:latin typeface="Source Sans 3"/>
              </a:rPr>
              <a:t>ÉTAPE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172A"/>
                </a:solidFill>
                <a:latin typeface="Lexend"/>
              </a:rPr>
              <a:t>Le tableau de bord : tout voir en un coup d'œil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7607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F3D91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Camille arrive sur une vue d'ensemble simple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où en est-elle dans la préparation de sa campagne ?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F3D91"/>
                </a:solidFill>
                <a:latin typeface="Source Sans 3"/>
              </a:rPr>
              <a:t>▸  </a:t>
            </a:r>
            <a:r>
              <a:rPr sz="1800">
                <a:solidFill>
                  <a:srgbClr val="334155"/>
                </a:solidFill>
                <a:latin typeface="Source Sans 3"/>
              </a:rPr>
              <a:t>Elle y retrouve aussi un rappel clair de ses obligations, sans jargon juridique.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1560" y="1646640"/>
            <a:ext cx="4890600" cy="3503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epar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91640"/>
            <a:ext cx="4800600" cy="3413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66560" y="1691640"/>
            <a:ext cx="4800600" cy="3413760"/>
          </a:xfrm>
          <a:prstGeom prst="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1560" y="1646640"/>
            <a:ext cx="90000" cy="3503760"/>
          </a:xfrm>
          <a:prstGeom prst="rect">
            <a:avLst/>
          </a:prstGeom>
          <a:solidFill>
            <a:srgbClr val="0F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518160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4748B"/>
                </a:solidFill>
                <a:latin typeface="Source Sans 3"/>
              </a:rPr>
              <a:t>Le tableau de bord de Prepare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510528"/>
            <a:ext cx="10908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Scoolize — Prepare &amp; Predict  ·  EPI'Gency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65392"/>
            <a:ext cx="28620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F3D91"/>
                </a:solidFill>
                <a:latin typeface="Source Sans 3"/>
              </a:rPr>
              <a:t>DÉMONSTRATION — PREPARE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3D91"/>
                </a:solidFill>
                <a:latin typeface="Source Sans 3"/>
              </a:rPr>
              <a:t>ÉTAPE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172A"/>
                </a:solidFill>
                <a:latin typeface="Lexend"/>
              </a:rPr>
              <a:t>Créer ses critères sans partir d'une page blanche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7607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F3D91"/>
                </a:solidFill>
                <a:latin typeface="Source Sans 3"/>
              </a:rPr>
              <a:t>▸  </a:t>
            </a:r>
            <a:r>
              <a:rPr sz="1800">
                <a:solidFill>
                  <a:srgbClr val="334155"/>
                </a:solidFill>
                <a:latin typeface="Source Sans 3"/>
              </a:rPr>
              <a:t>Un modèle de critères est déjà proposé selon le type de formation.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F3D91"/>
                </a:solidFill>
                <a:latin typeface="Source Sans 3"/>
              </a:rPr>
              <a:t>▸  </a:t>
            </a:r>
            <a:r>
              <a:rPr sz="1800">
                <a:solidFill>
                  <a:srgbClr val="334155"/>
                </a:solidFill>
                <a:latin typeface="Source Sans 3"/>
              </a:rPr>
              <a:t>Camille ajuste, ajoute ou retire ce qui correspond à sa formation.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F3D91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Un conseil simple guide son choix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mieux vaut quelques critères bien choisis qu'une longue liste confuse.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1560" y="1646640"/>
            <a:ext cx="4890600" cy="3503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epare-referenti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91640"/>
            <a:ext cx="4800600" cy="3413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66560" y="1691640"/>
            <a:ext cx="4800600" cy="3413760"/>
          </a:xfrm>
          <a:prstGeom prst="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1560" y="1646640"/>
            <a:ext cx="90000" cy="3503760"/>
          </a:xfrm>
          <a:prstGeom prst="rect">
            <a:avLst/>
          </a:prstGeom>
          <a:solidFill>
            <a:srgbClr val="0F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518160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4748B"/>
                </a:solidFill>
                <a:latin typeface="Source Sans 3"/>
              </a:rPr>
              <a:t>La création des critères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510528"/>
            <a:ext cx="10908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Scoolize — Prepare &amp; Predict  ·  EPI'Gency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65392"/>
            <a:ext cx="28620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F3D91"/>
                </a:solidFill>
                <a:latin typeface="Source Sans 3"/>
              </a:rPr>
              <a:t>DÉMONSTRATION — PREPARE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3D91"/>
                </a:solidFill>
                <a:latin typeface="Source Sans 3"/>
              </a:rPr>
              <a:t>ÉTAPE 3 — MOMENT FORT DE LA DÉMONSTRATION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172A"/>
                </a:solidFill>
                <a:latin typeface="Lexend"/>
              </a:rPr>
              <a:t>Donner de l'importance à chaque critère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7607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F3D91"/>
                </a:solidFill>
                <a:latin typeface="Source Sans 3"/>
              </a:rPr>
              <a:t>▸  </a:t>
            </a:r>
            <a:r>
              <a:rPr sz="1800">
                <a:solidFill>
                  <a:srgbClr val="334155"/>
                </a:solidFill>
                <a:latin typeface="Source Sans 3"/>
              </a:rPr>
              <a:t>Un curseur pour chaque critère, à ajuster ensemble avec son équipe.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F3D91"/>
                </a:solidFill>
                <a:latin typeface="Source Sans 3"/>
              </a:rPr>
              <a:t>▸  </a:t>
            </a:r>
            <a:r>
              <a:rPr sz="1800">
                <a:solidFill>
                  <a:srgbClr val="334155"/>
                </a:solidFill>
                <a:latin typeface="Source Sans 3"/>
              </a:rPr>
              <a:t>Un indicateur confirme en direct que le total est bien complet.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F3D91"/>
                </a:solidFill>
                <a:latin typeface="Source Sans 3"/>
              </a:rPr>
              <a:t>▸  </a:t>
            </a:r>
            <a:r>
              <a:rPr sz="1800">
                <a:solidFill>
                  <a:srgbClr val="334155"/>
                </a:solidFill>
                <a:latin typeface="Source Sans 3"/>
              </a:rPr>
              <a:t>Nous allons faire bouger un curseur devant vous, pour montrer que l'outil réagit vraiment.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1560" y="1646640"/>
            <a:ext cx="4890600" cy="3503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epare-pond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91640"/>
            <a:ext cx="4800600" cy="3413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66560" y="1691640"/>
            <a:ext cx="4800600" cy="3413760"/>
          </a:xfrm>
          <a:prstGeom prst="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1560" y="1646640"/>
            <a:ext cx="90000" cy="3503760"/>
          </a:xfrm>
          <a:prstGeom prst="rect">
            <a:avLst/>
          </a:prstGeom>
          <a:solidFill>
            <a:srgbClr val="0F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518160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4748B"/>
                </a:solidFill>
                <a:latin typeface="Source Sans 3"/>
              </a:rPr>
              <a:t>Les curseurs d'importance des critères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510528"/>
            <a:ext cx="10908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Scoolize — Prepare &amp; Predict  ·  EPI'Gency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65392"/>
            <a:ext cx="28620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F3D91"/>
                </a:solidFill>
                <a:latin typeface="Source Sans 3"/>
              </a:rPr>
              <a:t>DÉMONSTRATION — PREPARE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3D91"/>
                </a:solidFill>
                <a:latin typeface="Source Sans 3"/>
              </a:rPr>
              <a:t>ÉTAPE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172A"/>
                </a:solidFill>
                <a:latin typeface="Lexend"/>
              </a:rPr>
              <a:t>Vérifier avant de publier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7607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F3D91"/>
                </a:solidFill>
                <a:latin typeface="Source Sans 3"/>
              </a:rPr>
              <a:t>▸  </a:t>
            </a:r>
            <a:r>
              <a:rPr sz="1800">
                <a:solidFill>
                  <a:srgbClr val="334155"/>
                </a:solidFill>
                <a:latin typeface="Source Sans 3"/>
              </a:rPr>
              <a:t>Camille voit exactement l'écran que verra un élève, avant de publier quoi que ce soit.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F3D91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Elle se pose une question simple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est-ce que je comprendrais ce qu'on attend de moi, si j'étais élève ?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F3D91"/>
                </a:solidFill>
                <a:latin typeface="Source Sans 3"/>
              </a:rPr>
              <a:t>▸  </a:t>
            </a:r>
            <a:r>
              <a:rPr sz="1800">
                <a:solidFill>
                  <a:srgbClr val="334155"/>
                </a:solidFill>
                <a:latin typeface="Source Sans 3"/>
              </a:rPr>
              <a:t>Une fois satisfaite, elle publie ses critères en toute confiance.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1560" y="1646640"/>
            <a:ext cx="4890600" cy="3503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epare-aperc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91640"/>
            <a:ext cx="4800600" cy="3413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66560" y="1691640"/>
            <a:ext cx="4800600" cy="3413760"/>
          </a:xfrm>
          <a:prstGeom prst="rect">
            <a:avLst/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1560" y="1646640"/>
            <a:ext cx="90000" cy="3503760"/>
          </a:xfrm>
          <a:prstGeom prst="rect">
            <a:avLst/>
          </a:prstGeom>
          <a:solidFill>
            <a:srgbClr val="0F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518160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4748B"/>
                </a:solidFill>
                <a:latin typeface="Source Sans 3"/>
              </a:rPr>
              <a:t>L'aperçu de ce que verra l'élève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510528"/>
            <a:ext cx="10908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Scoolize — Prepare &amp; Predict  ·  EPI'Gency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565392"/>
            <a:ext cx="28620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F3D91"/>
                </a:solidFill>
                <a:latin typeface="Source Sans 3"/>
              </a:rPr>
              <a:t>DÉMONSTRATION — PREPARE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369A1"/>
                </a:solidFill>
                <a:latin typeface="Source Sans 3"/>
              </a:rPr>
              <a:t>EXPLICATIONS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172A"/>
                </a:solidFill>
                <a:latin typeface="Lexend"/>
              </a:rPr>
              <a:t>La stack backend, en détail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369A1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Node.js + Express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moteur de l'API REST. Même langage que le frontend (JavaScript partout), simple à prendre en main en équipe.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369A1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PostgreSQL + Prisma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base de données relationnelle réelle (5 tables liées), migrations versionnées, requêtes sécurisées sans SQL manuel.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369A1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JWT + bcrypt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mot de passe haché, jamais stocké en clair. Session représentée par un jeton signé, vérifié à chaque requête protégée.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369A1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Zod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validation de toutes les données entrantes (email, mot de passe, numéro INE) avec un message d'erreur clair par champ.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908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Scoolize — Prepare &amp; Predict  ·  EPI'Gency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65392"/>
            <a:ext cx="28620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369A1"/>
                </a:solidFill>
                <a:latin typeface="Source Sans 3"/>
              </a:rPr>
              <a:t>EXPLICATIONS TECHNIQUES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369A1"/>
                </a:solidFill>
                <a:latin typeface="Source Sans 3"/>
              </a:rPr>
              <a:t>EXPLICATIONS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172A"/>
                </a:solidFill>
                <a:latin typeface="Lexend"/>
              </a:rPr>
              <a:t>Frontend, tests, documentation et déploiement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369A1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HTML / CSS / JS natif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même design system que le prototype déjà validé, sans framework. Connecté à l'API réelle via fetch().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369A1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Jest + Supertest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113 tests automatisés, exécutés contre une vraie base PostgreSQL de test — aucune fonctionnalité simulée.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369A1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Swagger / OpenAPI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documentation interactive de chaque route (/api/docs), générée directement depuis le code.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369A1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Docker Compose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3 conteneurs (base de données, API, frontend) lancés en une seule commande, sans installation manuelle.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908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Scoolize — Prepare &amp; Predict  ·  EPI'Gency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65392"/>
            <a:ext cx="28620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369A1"/>
                </a:solidFill>
                <a:latin typeface="Source Sans 3"/>
              </a:rPr>
              <a:t>EXPLICATIONS TECHNIQUES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369A1"/>
                </a:solidFill>
                <a:latin typeface="Source Sans 3"/>
              </a:rPr>
              <a:t>EXPLICATIONS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172A"/>
                </a:solidFill>
                <a:latin typeface="Lexend"/>
              </a:rPr>
              <a:t>Architecture générale de l'application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334155"/>
                </a:solidFill>
                <a:latin typeface="Source Sans 3"/>
              </a:rPr>
              <a:t>NAVIGATEUR — frontend HTML / CSS / JS statique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3200400"/>
            <a:ext cx="2377440" cy="640080"/>
          </a:xfrm>
          <a:prstGeom prst="roundRect">
            <a:avLst>
              <a:gd name="adj" fmla="val 15000"/>
            </a:avLst>
          </a:prstGeom>
          <a:solidFill>
            <a:srgbClr val="0F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335584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Source Sans 3"/>
              </a:rPr>
              <a:t>API REST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3200400"/>
            <a:ext cx="2377440" cy="64008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335584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Source Sans 3"/>
              </a:rPr>
              <a:t>SWAGGER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4343400"/>
            <a:ext cx="5669280" cy="777240"/>
          </a:xfrm>
          <a:prstGeom prst="roundRect">
            <a:avLst>
              <a:gd name="adj" fmla="val 12000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4480560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FFFFFF"/>
                </a:solidFill>
                <a:latin typeface="Source Sans 3"/>
              </a:rPr>
              <a:t>BASE DE DONNÉES POSTGRESQL</a:t>
            </a:r>
          </a:p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FFFFFF"/>
                </a:solidFill>
                <a:latin typeface="Source Sans 3"/>
              </a:rPr>
              <a:t>5 tables reliées, via Prisma 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864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 i="1">
                <a:solidFill>
                  <a:srgbClr val="64748B"/>
                </a:solidFill>
                <a:latin typeface="Source Sans 3"/>
              </a:rPr>
              <a:t>Le frontend appelle l'API en JSON (fetch + jeton JWT). L'API valide les données (Zod) puis lit/écrit dans PostgreSQL via Prisma — jamais d'accès direct du frontend à la base.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510528"/>
            <a:ext cx="10908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Scoolize — Prepare &amp; Predict  ·  EPI'Gency Digital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565392"/>
            <a:ext cx="28620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369A1"/>
                </a:solidFill>
                <a:latin typeface="Source Sans 3"/>
              </a:rPr>
              <a:t>EXPLICATIONS TECHNIQUES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369A1"/>
                </a:solidFill>
                <a:latin typeface="Source Sans 3"/>
              </a:rPr>
              <a:t>EXPLICATIONS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172A"/>
                </a:solidFill>
                <a:latin typeface="Lexend"/>
              </a:rPr>
              <a:t>API, base de données, rôles et gestion des erreurs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369A1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API REST par domaine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un module par ressource (écoles, formations, statistiques, vœux, admin), avec routes, contrôleur, service et validation.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369A1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Base de données relationnelle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écoles → formations → statistiques ; étudiants → vœux → formations, reliées par des clés étrangères.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369A1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Trois rôles applicatifs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ÉTUDIANT, PERSONNEL D'ÉTABLISSEMENT et ADMINISTRATEUR ; un personnel d'établissement ne gère que les formations de sa propre école (vérifié à chaque requête, pas seulement affiché).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0369A1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Erreurs &amp; sécurité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messages clairs par champ, mots de passe hachés, jetons signés, CORS restreint à l'origine du frontend.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908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Scoolize — Prepare &amp; Predict  ·  EPI'Gency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65392"/>
            <a:ext cx="28620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0369A1"/>
                </a:solidFill>
                <a:latin typeface="Source Sans 3"/>
              </a:rPr>
              <a:t>EXPLICATIONS TECHNIQUES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C2626"/>
                </a:solidFill>
                <a:latin typeface="Source Sans 3"/>
              </a:rPr>
              <a:t>UN ENGAGEMENT FORT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172A"/>
                </a:solidFill>
                <a:latin typeface="Lexend"/>
              </a:rPr>
              <a:t>Protéger les données, rester juste envers tous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DC2626"/>
                </a:solidFill>
                <a:latin typeface="Source Sans 3"/>
              </a:rPr>
              <a:t>▸  </a:t>
            </a:r>
            <a:r>
              <a:rPr sz="1800">
                <a:solidFill>
                  <a:srgbClr val="334155"/>
                </a:solidFill>
                <a:latin typeface="Source Sans 3"/>
              </a:rPr>
              <a:t>Les informations des élèves ne sont jamais utilisées à leur désavantage.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DC2626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Le score n'est jamais la décision finale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la décision reste toujours prise par des personnes.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DC2626"/>
                </a:solidFill>
                <a:latin typeface="Source Sans 3"/>
              </a:rPr>
              <a:t>▸  </a:t>
            </a:r>
            <a:r>
              <a:rPr sz="1800">
                <a:solidFill>
                  <a:srgbClr val="334155"/>
                </a:solidFill>
                <a:latin typeface="Source Sans 3"/>
              </a:rPr>
              <a:t>Chaque élève garde le contrôle sur ses propres données, à tout moment.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908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Scoolize — Prepare &amp; Predict  ·  EPI'Gency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65392"/>
            <a:ext cx="28620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DC2626"/>
                </a:solidFill>
                <a:latin typeface="Source Sans 3"/>
              </a:rPr>
              <a:t>SYNTHÈSE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97706"/>
                </a:solidFill>
                <a:latin typeface="Source Sans 3"/>
              </a:rPr>
              <a:t>DIFFICULTÉS RENCONTRÉES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172A"/>
                </a:solidFill>
                <a:latin typeface="Lexend"/>
              </a:rPr>
              <a:t>Ce qui ne s'est pas passé du premier coup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D97706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Concilier le produit existant et le socle attendu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réconcilier le référentiel Prepare/Predict déjà conçu avec le socle « Parcoursup classique » exigé par le jury → Prepare/Predict devient une couche de valeur au-dessus d'un vrai socle fonctionnel.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D97706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Aucun environnement de test disponible au départ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ni PostgreSQL ni Docker installés → configuration d'un PostgreSQL local pour valider réellement chaque fonctionnalité au fil du développement.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D97706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Uniformiser les messages d'erreur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entre la validation de format et les contraintes de la base (email/INE déjà utilisés) → un middleware d'erreur centralisé traduit chaque cas en message clair par champ.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D97706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Vérifier le frontend sans navigateur automatisé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environnement sans outil de test headless → scénarios bout-en-bout via l'API en complément des 113 tests automatisés.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908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Scoolize — Prepare &amp; Predict  ·  EPI'Gency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65392"/>
            <a:ext cx="28620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D97706"/>
                </a:solidFill>
                <a:latin typeface="Source Sans 3"/>
              </a:rPr>
              <a:t>SYNTHÈSE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D97706"/>
                </a:solidFill>
                <a:latin typeface="Source Sans 3"/>
              </a:rPr>
              <a:t>AMÉLIORATIONS FUTURES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172A"/>
                </a:solidFill>
                <a:latin typeface="Lexend"/>
              </a:rPr>
              <a:t>Les évolutions envisagées pour la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D97706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Calcul réel du score de correspondance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aujourd'hui illustratif sur la fiche formation, à remplacer par un algorithme s'appuyant sur le référentiel de compétences.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D97706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Brancher le référentiel Prepare sur l'API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le constructeur de critères pondérés reste pour l'instant un mockup visuel non connecté à la base de données.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D97706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Renforcer la sécurité de l'authentification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passer du jeton JWT en localStorage à un cookie httpOnly avec rafraîchissement automatique (refresh token).</a:t>
            </a:r>
          </a:p>
          <a:p>
            <a:pPr algn="l">
              <a:lnSpc>
                <a:spcPct val="130000"/>
              </a:lnSpc>
              <a:spcAft>
                <a:spcPts val="900"/>
              </a:spcAft>
            </a:pPr>
            <a:r>
              <a:rPr sz="1800" b="1">
                <a:solidFill>
                  <a:srgbClr val="D97706"/>
                </a:solidFill>
                <a:latin typeface="Source Sans 3"/>
              </a:rPr>
              <a:t>▸  </a:t>
            </a:r>
            <a:r>
              <a:rPr sz="1800" b="1">
                <a:solidFill>
                  <a:srgbClr val="0F172A"/>
                </a:solidFill>
                <a:latin typeface="Source Sans 3"/>
              </a:rPr>
              <a:t>Intégration continue &amp; tests réels — </a:t>
            </a:r>
            <a:r>
              <a:rPr sz="1800">
                <a:solidFill>
                  <a:srgbClr val="334155"/>
                </a:solidFill>
                <a:latin typeface="Source Sans 3"/>
              </a:rPr>
              <a:t>exécuter les 113 tests automatiquement à chaque modification, puis tester l'outil avec de vrais élèves et établissements.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908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Scoolize — Prepare &amp; Predict  ·  EPI'Gency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65392"/>
            <a:ext cx="28620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D97706"/>
                </a:solidFill>
                <a:latin typeface="Source Sans 3"/>
              </a:rPr>
              <a:t>SYNTHÈSE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 i="0">
                <a:solidFill>
                  <a:srgbClr val="FFFFFF"/>
                </a:solidFill>
                <a:latin typeface="Lexend"/>
              </a:rPr>
              <a:t>Merci.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D8F2EE"/>
                </a:solidFill>
                <a:latin typeface="Source Sans 3"/>
              </a:rPr>
              <a:t>Scoolize aide chaque élève à comprendre ses chances,</a:t>
            </a:r>
          </a:p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D8F2EE"/>
                </a:solidFill>
                <a:latin typeface="Source Sans 3"/>
              </a:rPr>
              <a:t>et chaque établissement à expliquer ses attentes.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DCE6F7"/>
                </a:solidFill>
                <a:latin typeface="Source Sans 3"/>
              </a:rPr>
              <a:t>EPI'Gency Digital — Scoolize — Prepare &amp; Predict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510528"/>
            <a:ext cx="109087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Scoolize — Prepare &amp; Predict  ·  EPI'Gency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65392"/>
            <a:ext cx="28620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E2E8F0"/>
                </a:solidFill>
                <a:latin typeface="Source Sans 3"/>
              </a:rPr>
              <a:t>MERCI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565392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4748B"/>
                </a:solidFill>
                <a:latin typeface="Source Sans 3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
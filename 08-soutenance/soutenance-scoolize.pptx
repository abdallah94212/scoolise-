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93C5FD"/>
                </a:solidFill>
                <a:latin typeface="Arial"/>
              </a:rPr>
              <a:t>MINISTÈRE DE L'ÉDUCATION · PROGRAMME SCOOLIZE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1031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>
                <a:solidFill>
                  <a:srgbClr val="FFFFFF"/>
                </a:solidFill>
                <a:latin typeface="Arial"/>
              </a:rPr>
              <a:t>Scoolize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204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CBD5E1"/>
                </a:solidFill>
                <a:latin typeface="Arial"/>
              </a:rPr>
              <a:t>Prepare &amp; Predict — la prochaine génération d'orientation post-bac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60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93C5FD"/>
                </a:solidFill>
                <a:latin typeface="Arial"/>
              </a:rPr>
              <a:t>EPI'Gency Digital — Réponse à l'appel d'offres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  <a:latin typeface="Arial"/>
              </a:rPr>
              <a:t>Soutenance — 11 décembre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D9488"/>
                </a:solidFill>
                <a:latin typeface="Arial"/>
              </a:rPr>
              <a:t>SOMMAIRE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Arial"/>
              </a:rPr>
              <a:t>Ce que nous allons vous montrer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700">
                <a:solidFill>
                  <a:srgbClr val="334155"/>
                </a:solidFill>
              </a:rPr>
              <a:t>•  Le problème : ce que l'audit UX de Parcoursup révèle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700">
                <a:solidFill>
                  <a:srgbClr val="334155"/>
                </a:solidFill>
              </a:rPr>
              <a:t>•  Les utilisateurs : personas et parcours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700">
                <a:solidFill>
                  <a:srgbClr val="334155"/>
                </a:solidFill>
              </a:rPr>
              <a:t>•  La vision produit : Prepare et Predict, et leur positionnement par rapport à l'existant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700">
                <a:solidFill>
                  <a:srgbClr val="334155"/>
                </a:solidFill>
              </a:rPr>
              <a:t>•  La démonstration : prototype cliquable des deux outils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700">
                <a:solidFill>
                  <a:srgbClr val="334155"/>
                </a:solidFill>
              </a:rPr>
              <a:t>•  La conformité : RGPD, obligations légales, non-discrimination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700">
                <a:solidFill>
                  <a:srgbClr val="334155"/>
                </a:solidFill>
              </a:rPr>
              <a:t>•  La conduite du changement : comment faire adopter ces outils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700">
                <a:solidFill>
                  <a:srgbClr val="334155"/>
                </a:solidFill>
              </a:rPr>
              <a:t>•  L'organisation : méthode, planning, prochaines étapes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3D91"/>
                </a:solidFill>
                <a:latin typeface="Arial"/>
              </a:rPr>
              <a:t>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Arial"/>
              </a:rPr>
              <a:t>Le mandat du Ministère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34155"/>
                </a:solidFill>
                <a:latin typeface="Arial"/>
              </a:rPr>
              <a:t>Parcoursup a permis d'unifier l'accès à 63 % des formations du supérieur depuis 2018. Mais l'expérience reste perçue comme opaque, anxiogène et inégalitaire.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</a:rPr>
              <a:t>•  Prepare (formations) : déclarer transparemment les compétences et niveaux requis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</a:rPr>
              <a:t>•  Predict (étudiants) : importer ses notes, voir les formations adaptées à son profil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</a:rPr>
              <a:t>•  Un impératif transverse : la conduite du changement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3017520"/>
            <a:ext cx="5303520" cy="30175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/>
            <a:r>
              <a:rPr b="1" sz="1500">
                <a:solidFill>
                  <a:srgbClr val="0F172A"/>
                </a:solidFill>
              </a:rPr>
              <a:t>Fondement légal déjà existant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334155"/>
                </a:solidFill>
              </a:rPr>
              <a:t>Article L. 612-3 du Code de l'éducation : obligation de publier les critères d'examen des vœux. Scoolize ne crée pas cette obligation, il la rend enfin lisible et actionnable.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3D91"/>
                </a:solidFill>
                <a:latin typeface="Arial"/>
              </a:rPr>
              <a:t>SEMAINE 1 — RECHERCHE 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Arial"/>
              </a:rPr>
              <a:t>Ce que révèle l'audit de Parcoursup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</a:rPr>
              <a:t>•  Attendus locaux hétérogènes : chaque établissement rédige librement, sans référentiel commun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</a:rPr>
              <a:t>•  Aucune estimation de compatibilité avant de candidater : décision « à l'aveugle »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</a:rPr>
              <a:t>•  Vocabulaire administratif opaque (voeu, sous-voeu, GDD...)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</a:rPr>
              <a:t>•  Refus non pédagogiques : un statut, jamais une explication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</a:rPr>
              <a:t>•  Fracture d'accès à l'accompagnement pour les familles non initiées au supérieur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737360"/>
            <a:ext cx="5212080" cy="42062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 rIns="274320"/>
          <a:lstStyle/>
          <a:p>
            <a:pPr algn="ctr"/>
            <a:r>
              <a:rPr b="1" sz="1500">
                <a:solidFill>
                  <a:srgbClr val="FFFFFF"/>
                </a:solidFill>
              </a:rPr>
              <a:t>Ce que l'algorithme national fait réellement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CBD5E1"/>
                </a:solidFill>
              </a:rPr>
              <a:t>Analyse du dépôt public des algorithmes de Parcoursup (MESRI) : l'algorithme national gère l'ordre d'appel et les propositions — PAS le classement des candidats, qui reste local et non structuré.</a:t>
            </a:r>
          </a:p>
          <a:p/>
          <a:p>
            <a:r>
              <a:rPr sz="1400" b="1">
                <a:solidFill>
                  <a:srgbClr val="5EEAD4"/>
                </a:solidFill>
              </a:rPr>
              <a:t>→ C'est exactement cet amont que Prepare structure.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D9488"/>
                </a:solidFill>
                <a:latin typeface="Arial"/>
              </a:rPr>
              <a:t>RECHERCHE UTILISATEUR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Arial"/>
              </a:rPr>
              <a:t>Trois personas, deux produits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566160" cy="40233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56032" rIns="228600"/>
          <a:lstStyle/>
          <a:p>
            <a:pPr algn="ctr"/>
            <a:r>
              <a:rPr b="1" sz="1900">
                <a:solidFill>
                  <a:srgbClr val="0F172A"/>
                </a:solidFill>
              </a:rPr>
              <a:t>Léa Martin</a:t>
            </a:r>
          </a:p>
          <a:p>
            <a:pPr>
              <a:spcAft>
                <a:spcPts val="1400"/>
              </a:spcAft>
            </a:pPr>
            <a:r>
              <a:rPr sz="1200">
                <a:solidFill>
                  <a:srgbClr val="64748B"/>
                </a:solidFill>
              </a:rPr>
              <a:t>17 ans · Terminale générale · zone rurale</a:t>
            </a:r>
          </a:p>
          <a:p>
            <a:pPr>
              <a:lnSpc>
                <a:spcPct val="130000"/>
              </a:lnSpc>
            </a:pPr>
            <a:r>
              <a:rPr sz="1350">
                <a:solidFill>
                  <a:srgbClr val="334155"/>
                </a:solidFill>
              </a:rPr>
              <a:t>Predict — veut comprendre pourquoi une formation lui correspond, pas juste « oui/non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828800"/>
            <a:ext cx="3566160" cy="40233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56032" rIns="228600"/>
          <a:lstStyle/>
          <a:p>
            <a:pPr algn="ctr"/>
            <a:r>
              <a:rPr b="1" sz="1900">
                <a:solidFill>
                  <a:srgbClr val="0F172A"/>
                </a:solidFill>
              </a:rPr>
              <a:t>Yanis Bouzid</a:t>
            </a:r>
          </a:p>
          <a:p>
            <a:pPr>
              <a:spcAft>
                <a:spcPts val="1400"/>
              </a:spcAft>
            </a:pPr>
            <a:r>
              <a:rPr sz="1200">
                <a:solidFill>
                  <a:srgbClr val="64748B"/>
                </a:solidFill>
              </a:rPr>
              <a:t>18 ans · Bac Pro Systèmes Numériques</a:t>
            </a:r>
          </a:p>
          <a:p>
            <a:pPr>
              <a:lnSpc>
                <a:spcPct val="130000"/>
              </a:lnSpc>
            </a:pPr>
            <a:r>
              <a:rPr sz="1350">
                <a:solidFill>
                  <a:srgbClr val="334155"/>
                </a:solidFill>
              </a:rPr>
              <a:t>Predict — garde-fou contre un outil « tout-notes », valorise les compétences pratiques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828800"/>
            <a:ext cx="3566160" cy="40233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56032" rIns="228600"/>
          <a:lstStyle/>
          <a:p>
            <a:pPr algn="ctr"/>
            <a:r>
              <a:rPr b="1" sz="1900">
                <a:solidFill>
                  <a:srgbClr val="0F172A"/>
                </a:solidFill>
              </a:rPr>
              <a:t>Camille Dupas</a:t>
            </a:r>
          </a:p>
          <a:p>
            <a:pPr>
              <a:spcAft>
                <a:spcPts val="1400"/>
              </a:spcAft>
            </a:pPr>
            <a:r>
              <a:rPr sz="1200">
                <a:solidFill>
                  <a:srgbClr val="64748B"/>
                </a:solidFill>
              </a:rPr>
              <a:t>41 ans · Responsable admissions IUT</a:t>
            </a:r>
          </a:p>
          <a:p>
            <a:pPr>
              <a:lnSpc>
                <a:spcPct val="130000"/>
              </a:lnSpc>
            </a:pPr>
            <a:r>
              <a:rPr sz="1350">
                <a:solidFill>
                  <a:srgbClr val="334155"/>
                </a:solidFill>
              </a:rPr>
              <a:t>Prepare — veut des critères justes, rapides à rédiger et défendables juridiquement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D9488"/>
                </a:solidFill>
                <a:latin typeface="Arial"/>
              </a:rPr>
              <a:t>SEMAINE 2 —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Arial"/>
              </a:rPr>
              <a:t>Un référentiel de compétences commun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334155"/>
                </a:solidFill>
                <a:latin typeface="Arial"/>
              </a:rPr>
              <a:t>Scoolize n'est pas une refonte de Parcoursup : c'est une couche de transparence qui relie deux produits.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51760"/>
            <a:ext cx="5212080" cy="3291840"/>
          </a:xfrm>
          <a:prstGeom prst="roundRect">
            <a:avLst/>
          </a:prstGeom>
          <a:solidFill>
            <a:srgbClr val="DCE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/>
            <a:r>
              <a:rPr b="1" sz="1400">
                <a:solidFill>
                  <a:srgbClr val="0F3D91"/>
                </a:solidFill>
              </a:rPr>
              <a:t>PREPARE — pour les formations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0F172A"/>
                </a:solidFill>
              </a:rPr>
              <a:t>Déclarer ses attendus via un référentiel guidé et pondéré, prévisualisable exactement comme le candidat le verra.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2651760"/>
            <a:ext cx="5212080" cy="3291840"/>
          </a:xfrm>
          <a:prstGeom prst="roundRect">
            <a:avLst/>
          </a:prstGeom>
          <a:solidFill>
            <a:srgbClr val="D8F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/>
            <a:r>
              <a:rPr b="1" sz="1400">
                <a:solidFill>
                  <a:srgbClr val="0D9488"/>
                </a:solidFill>
              </a:rPr>
              <a:t>PREDICT — pour les candidats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0F172A"/>
                </a:solidFill>
              </a:rPr>
              <a:t>Importer son bulletin, obtenir un score de correspondance explicable, comprendre precisement quoi progresser.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D9488"/>
                </a:solidFill>
                <a:latin typeface="Arial"/>
              </a:rPr>
              <a:t>DÉMONSTRATION — PREDICT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F172A"/>
                </a:solidFill>
                <a:latin typeface="Arial"/>
              </a:rPr>
              <a:t>Un score de correspondance, jamais une boîte noire</a:t>
            </a:r>
          </a:p>
        </p:txBody>
      </p:sp>
      <p:pic>
        <p:nvPicPr>
          <p:cNvPr id="5" name="Picture 4" descr="predict-fich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508760"/>
            <a:ext cx="6675120" cy="474675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24150" y="1489710"/>
            <a:ext cx="6713220" cy="4784852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Arial"/>
              </a:rPr>
              <a:t>Chaque critère est détaillé, pondéré, et accompagné d'une piste de progression concrète.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D9488"/>
                </a:solidFill>
                <a:latin typeface="Arial"/>
              </a:rPr>
              <a:t>DÉMONSTRATION — PREDICT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F172A"/>
                </a:solidFill>
                <a:latin typeface="Arial"/>
              </a:rPr>
              <a:t>Un profil de compétences, pas qu'une moyenne</a:t>
            </a:r>
          </a:p>
        </p:txBody>
      </p:sp>
      <p:pic>
        <p:nvPicPr>
          <p:cNvPr id="5" name="Picture 4" descr="predict-prof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508760"/>
            <a:ext cx="6675120" cy="474675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24150" y="1489710"/>
            <a:ext cx="6713220" cy="4784852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Arial"/>
              </a:rPr>
              <a:t>Import automatique du bulletin + compétences pratiques déclarées manuellement (stages, projets).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3D91"/>
                </a:solidFill>
                <a:latin typeface="Arial"/>
              </a:rPr>
              <a:t>DÉMONSTRATION — PREPARE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F172A"/>
                </a:solidFill>
                <a:latin typeface="Arial"/>
              </a:rPr>
              <a:t>Un tableau de bord pour piloter sa campagne</a:t>
            </a:r>
          </a:p>
        </p:txBody>
      </p:sp>
      <p:pic>
        <p:nvPicPr>
          <p:cNvPr id="5" name="Picture 4" descr="prepare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508760"/>
            <a:ext cx="6675120" cy="474675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24150" y="1489710"/>
            <a:ext cx="6713220" cy="4784852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Arial"/>
              </a:rPr>
              <a:t>Statut de conformité, avancement de la commission, rappel de l'obligation légale — en un coup d'oeil.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3D91"/>
                </a:solidFill>
                <a:latin typeface="Arial"/>
              </a:rPr>
              <a:t>DÉMONSTRATION — PREPARE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0F172A"/>
                </a:solidFill>
                <a:latin typeface="Arial"/>
              </a:rPr>
              <a:t>Un référentiel guidé, pas une page blanche</a:t>
            </a:r>
          </a:p>
        </p:txBody>
      </p:sp>
      <p:pic>
        <p:nvPicPr>
          <p:cNvPr id="5" name="Picture 4" descr="prepare-referenti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508760"/>
            <a:ext cx="6675120" cy="474675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24150" y="1489710"/>
            <a:ext cx="6713220" cy="4784852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Arial"/>
              </a:rPr>
              <a:t>Modèle pré-rempli par type de formation, personnalisable, avec justification affichée au candidat.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D9488"/>
                </a:solidFill>
                <a:latin typeface="Arial"/>
              </a:rPr>
              <a:t>CHARTE GRAPHIQUE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Arial"/>
              </a:rPr>
              <a:t>Un seul système, deux tons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</a:rPr>
              <a:t>•  Style « Accessible &amp; Ethical » : contraste AA/AAA, cibles tactiles 44px, navigation clavier complète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</a:rPr>
              <a:t>•  Typographie Lexend (titres) + Source Sans 3 (texte) — pensées pour la lisibilité, y compris troubles dys-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</a:rPr>
              <a:t>•  Prepare : bleu institutionnel #0F3D91 — registre de confiance officielle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</a:rPr>
              <a:t>•  Predict : teal #0D9488 — registre encourageant, sans tomber dans l'infantilisant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828800"/>
            <a:ext cx="914400" cy="914400"/>
          </a:xfrm>
          <a:prstGeom prst="roundRect">
            <a:avLst/>
          </a:prstGeom>
          <a:solidFill>
            <a:srgbClr val="0F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89320" y="28346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334155"/>
                </a:solidFill>
                <a:latin typeface="Arial"/>
              </a:rPr>
              <a:t>Prepare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1828800"/>
            <a:ext cx="914400" cy="9144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79" y="28346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334155"/>
                </a:solidFill>
                <a:latin typeface="Arial"/>
              </a:rPr>
              <a:t>Predict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828800"/>
            <a:ext cx="914400" cy="9144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28346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334155"/>
                </a:solidFill>
                <a:latin typeface="Arial"/>
              </a:rPr>
              <a:t>Succès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1828800"/>
            <a:ext cx="914400" cy="9144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28346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334155"/>
                </a:solidFill>
                <a:latin typeface="Arial"/>
              </a:rPr>
              <a:t>Alerte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32720" y="1828800"/>
            <a:ext cx="914400" cy="9144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95560" y="28346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334155"/>
                </a:solidFill>
                <a:latin typeface="Arial"/>
              </a:rPr>
              <a:t>Erreur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474720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Arial"/>
              </a:rPr>
              <a:t>Le prototype est codé en HTML/CSS structuré pour être importé directement dans Figma via le plugin html.to.design, afin que l'équipe puisse itérer nativement.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DC2626"/>
                </a:solidFill>
                <a:latin typeface="Arial"/>
              </a:rPr>
              <a:t>CONFORMITÉ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Arial"/>
              </a:rPr>
              <a:t>Conformité légale et RGPD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00">
                <a:solidFill>
                  <a:srgbClr val="334155"/>
                </a:solidFill>
              </a:rPr>
              <a:t>•  Le score de Predict n'est jamais une décision automatisée au sens de l'article 22 du RGPD : la décision reste humaine (commission d'examen des vœux)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00">
                <a:solidFill>
                  <a:srgbClr val="334155"/>
                </a:solidFill>
              </a:rPr>
              <a:t>•  Aucune donnée sensible (art. 9 RGPD) collectée ; le contexte socio-économique n'entre jamais dans le calcul du score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00">
                <a:solidFill>
                  <a:srgbClr val="334155"/>
                </a:solidFill>
              </a:rPr>
              <a:t>•  Minimisation : suppression du bulletin proposée 12 mois après la campagne, droit d'accès/rectification/effacement natif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00">
                <a:solidFill>
                  <a:srgbClr val="334155"/>
                </a:solidFill>
              </a:rPr>
              <a:t>•  Prepare interdit techniquement tout critère non pédagogique (non-discrimination, art. 225-1 du Code pénal)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00">
                <a:solidFill>
                  <a:srgbClr val="334155"/>
                </a:solidFill>
              </a:rPr>
              <a:t>•  Recommandation : analyse d'impact (AIPD/DPIA) à mener en semaine 4, avant tout développement réel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45309"/>
                </a:solidFill>
                <a:latin typeface="Arial"/>
              </a:rPr>
              <a:t>CONDUITE DU CHANGEMENT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Arial"/>
              </a:rPr>
              <a:t>Comprendre → Impliquer → Former → Ancrer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651760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600">
                <a:solidFill>
                  <a:srgbClr val="0F172A"/>
                </a:solidFill>
              </a:rPr>
              <a:t>1. Comprendre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828800"/>
            <a:ext cx="2651760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600">
                <a:solidFill>
                  <a:srgbClr val="0F172A"/>
                </a:solidFill>
              </a:rPr>
              <a:t>2. Impliquer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79" y="1828800"/>
            <a:ext cx="2651760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600">
                <a:solidFill>
                  <a:srgbClr val="0F172A"/>
                </a:solidFill>
              </a:rPr>
              <a:t>3. Former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15400" y="1828800"/>
            <a:ext cx="2651760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600">
                <a:solidFill>
                  <a:srgbClr val="0F172A"/>
                </a:solidFill>
              </a:rPr>
              <a:t>4. Ancrer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>
                <a:solidFill>
                  <a:srgbClr val="0F3D91"/>
                </a:solidFill>
              </a:rPr>
              <a:t>•  Prepare (formations) : gain de temps net perçu, ateliers de co-conception, mode bac à sable, duplication d'une campagne à l'autre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338328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>
                <a:solidFill>
                  <a:srgbClr val="0D9488"/>
                </a:solidFill>
              </a:rPr>
              <a:t>•  Predict (candidats) : outil de réassurance, relais via profs principaux/psy-EN, auto-explicabilité (lexique, infobulles)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D9488"/>
                </a:solidFill>
                <a:latin typeface="Arial"/>
              </a:rPr>
              <a:t>ORGANISATION &amp; MÉTHODE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Arial"/>
              </a:rPr>
              <a:t>Comment nous avons travaillé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</a:rPr>
              <a:t>•  3 semaines : recherche → vision &amp; wireframes → prototype haute-fidélité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</a:rPr>
              <a:t>•  Équipe de 3, rôles référents (recherche, design, gestion de projet) sans silos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</a:rPr>
              <a:t>•  Versioning Git avec historique de commits tracé (contrairement à l'exemple analysé, qui ne comportait qu'un seul commit)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>
                <a:solidFill>
                  <a:srgbClr val="334155"/>
                </a:solidFill>
              </a:rPr>
              <a:t>•  Documentation entièrement versionnée, aucune information dispersée dans des fichiers isolés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737360"/>
            <a:ext cx="5212080" cy="42062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 rIns="274320"/>
          <a:lstStyle/>
          <a:p>
            <a:pPr algn="ctr"/>
            <a:r>
              <a:rPr b="1" sz="1500">
                <a:solidFill>
                  <a:srgbClr val="FFFFFF"/>
                </a:solidFill>
              </a:rPr>
              <a:t>Prochaines étapes (hors périmètre de ce jalon)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300">
                <a:solidFill>
                  <a:srgbClr val="CBD5E1"/>
                </a:solidFill>
              </a:rPr>
              <a:t>• Semaine 4 — Acceptance &amp; Beta : tests utilisateurs réels, AIPD/DPIA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300">
                <a:solidFill>
                  <a:srgbClr val="CBD5E1"/>
                </a:solidFill>
              </a:rPr>
              <a:t>• Semaine 5-6 — Déploiement : établissements pilotes, kit de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FFFFFF"/>
                </a:solidFill>
                <a:latin typeface="Arial"/>
              </a:rPr>
              <a:t>Merci.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CBD5E1"/>
                </a:solidFill>
                <a:latin typeface="Arial"/>
              </a:rPr>
              <a:t>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035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  <a:latin typeface="Arial"/>
              </a:rPr>
              <a:t>EPI'Gency Digital — Scoolize — Prepare &amp; Predict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